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5328C"/>
                </a:solidFill>
              </a:defRPr>
            </a:pPr>
            <a:r>
              <a:t>물꼬 — 기술적 의사결정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B8D93"/>
                </a:solidFill>
              </a:defRPr>
            </a:pPr>
            <a:r>
              <a:t>OCR 속도 개선 · 공고 지역 정보 추출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312E"/>
                </a:solidFill>
              </a:defRPr>
            </a:pPr>
            <a:r>
              <a:t>OCR 속도 개선 — 문제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8B8D93"/>
                </a:solidFill>
              </a:defRPr>
            </a:pPr>
            <a:r>
              <a:t>사업자등록증 OCR이 최대 100초 넘게 걸리는 원인 실측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023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소요 시간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모델 로딩 (최초 1회만)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13.0s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extract_biz_cert (Qwen 1회, 기본정보)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4040"/>
                          </a:solidFill>
                        </a:rPr>
                        <a:t>168.7s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extract_categories (EasyOCR만)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14.6s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extract_categories (EasyOCR + Qwen 보정)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13.3s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977639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7665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GPU 총 용량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8.59GB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모델 로딩 직후 사용량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6.49GB (85.6% GPU / 14.4% CPU 오프로딩)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추론 중 최대 사용량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4040"/>
                          </a:solidFill>
                        </a:rPr>
                        <a:t>8.53GB / 8.59GB (거의 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806440"/>
            <a:ext cx="10881360" cy="731520"/>
          </a:xfrm>
          <a:prstGeom prst="roundRect">
            <a:avLst>
              <a:gd name="adj" fmla="val 6000"/>
            </a:avLst>
          </a:prstGeom>
          <a:solidFill>
            <a:srgbClr val="DFF3EF"/>
          </a:solidFill>
          <a:ln w="12700">
            <a:solidFill>
              <a:srgbClr val="0F6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400" b="1">
                <a:solidFill>
                  <a:srgbClr val="0F6E62"/>
                </a:solidFill>
              </a:rPr>
              <a:t>결론: GPU VRAM(8GB)이 모델+연산에 부족해 일부가 CPU로 오프로딩되고, 그 왕복이 병목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312E"/>
                </a:solidFill>
              </a:defRPr>
            </a:pPr>
            <a:r>
              <a:t>OCR 속도 개선 — 방법별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8B8D93"/>
                </a:solidFill>
              </a:defRPr>
            </a:pPr>
            <a:r>
              <a:t>정밀도(bf16) vs 양자화(8bit/4bit) vs 해상도 축소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377440"/>
                <a:gridCol w="5029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속도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기존 (bf16)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97~162s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8bit 양자화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26~30s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대부분 정확 · 실사에서 가끔 필드 뒤섞임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4bit 양자화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7~9s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실사에서 완전 실패(전부 빈 값)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해상도만 낮추기(정밀도 유지)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미검증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미검증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3192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DFF3EF"/>
          </a:solidFill>
          <a:ln w="12700">
            <a:solidFill>
              <a:srgbClr val="0F6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500" b="1">
                <a:solidFill>
                  <a:srgbClr val="0F6E62"/>
                </a:solidFill>
              </a:rPr>
              <a:t>최종 채택: 8bit 양자화</a:t>
            </a:r>
          </a:p>
          <a:p>
            <a:r>
              <a:rPr sz="1250" b="0">
                <a:solidFill>
                  <a:srgbClr val="2E312E"/>
                </a:solidFill>
              </a:rPr>
              <a:t>이유: OCR 결과는 회원가입 시 사용자가 확인/수정 팝업에서 검토한 뒤에만 저장되므로,</a:t>
            </a:r>
          </a:p>
          <a:p>
            <a:r>
              <a:rPr sz="1250" b="0">
                <a:solidFill>
                  <a:srgbClr val="2E312E"/>
                </a:solidFill>
              </a:rPr>
              <a:t>일부 필드 오차는 사용자가 직접 잡아낼 수 있는 안전장치가 이미 있음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312E"/>
                </a:solidFill>
              </a:defRPr>
            </a:pPr>
            <a:r>
              <a:t>OCR 속도 개선 — 8bit 정확도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8B8D93"/>
                </a:solidFill>
              </a:defRPr>
            </a:pPr>
            <a:r>
              <a:t>실사 사진 포함 3개 이미지로 실측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10312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이미지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8bit 추론 시간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정확도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rh_사업자등록증.jpg (실사, 휴대폰 사진)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29.5s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상호/대표자/번호/주소 정확, 생년월일·개업일·법인번호 뒤섞임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사업자등록증_법인.png (합성)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26.9s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완전 일치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사업자등록증_개인.png (합성)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25.7s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대표자명 1글자 오독(홍길동→흥길동)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2062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DFF3EF"/>
          </a:solidFill>
          <a:ln w="12700">
            <a:solidFill>
              <a:srgbClr val="0F6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350" b="1">
                <a:solidFill>
                  <a:srgbClr val="0F6E62"/>
                </a:solidFill>
              </a:rPr>
              <a:t>참고: 4bit은 같은 실사 이미지에서 전부 빈 값으로 완전 실패 → 4bit 기각, 8bit 채택 근거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312E"/>
                </a:solidFill>
              </a:defRPr>
            </a:pPr>
            <a:r>
              <a:t>공고 지역 정보 추출 — 4단계 폴백 체인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8B8D93"/>
                </a:solidFill>
              </a:defRPr>
            </a:pPr>
            <a:r>
              <a:t>기업마당: 구조화된 지역 필드가 없어 원문에서 신뢰도 순으로 추론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834640"/>
                <a:gridCol w="310896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대표 예시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제목 [지역] 태그 파싱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실측 20/20 일치, 커버리지 68.6%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[충남]... → 소관기관이 산업통상부여도 태그 채택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소관기관 판정(중앙부처/지자체)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"중앙부처=전국" 바로 단정 안 함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산업통상부 소관 → 원문 "대구광역시 소재" 발견 후 정정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신청자격/지원대상 섹션 탐색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우대·사후조건 문구는 제외(오탐 방지)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"전남광주 외: 선정 후 이전"은 사후조건이라 제외 → 전국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요약문 지역 패턴 탐색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최후 폴백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"전주시·익산시·정읍시" 등 시/군 단위 표현까지 인식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E312E"/>
                </a:solidFill>
              </a:defRPr>
            </a:pPr>
            <a:r>
              <a:t>지역 추출 — 실제로는 어디까지 갈까?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8B8D93"/>
                </a:solidFill>
              </a:defRPr>
            </a:pPr>
            <a:r>
              <a:t>실제 수집된 공고 데이터 기준 단계별 도달 현황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3736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291840"/>
                <a:gridCol w="155448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region_status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건수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 anchor="ctr">
                    <a:solidFill>
                      <a:srgbClr val="1532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1순위 · 제목 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parsed 계열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1,193건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대부분 여기서 종료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2순위 · 중앙부처 원문 스캔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parsed_from_fulltext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11건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예외적 케이스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3순위 · 지자체 소관 신청자격 섹션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parsed_from_target_section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2건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극소수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2E312E"/>
                          </a:solidFill>
                        </a:rPr>
                        <a:t>4순위 · 요약문 패턴 (최후 폴백)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parsed_from_body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E312E"/>
                          </a:solidFill>
                        </a:rPr>
                        <a:t>0건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4040"/>
                          </a:solidFill>
                        </a:rPr>
                        <a:t>실사용 사례 없음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977639"/>
            <a:ext cx="10881360" cy="1920240"/>
          </a:xfrm>
          <a:prstGeom prst="roundRect">
            <a:avLst>
              <a:gd name="adj" fmla="val 6000"/>
            </a:avLst>
          </a:prstGeom>
          <a:solidFill>
            <a:srgbClr val="DFF3EF"/>
          </a:solidFill>
          <a:ln w="12700">
            <a:solidFill>
              <a:srgbClr val="0F6E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/>
          <a:lstStyle/>
          <a:p>
            <a:pPr algn="ctr"/>
            <a:r>
              <a:rPr sz="1500" b="1">
                <a:solidFill>
                  <a:srgbClr val="0F6E62"/>
                </a:solidFill>
              </a:rPr>
              <a:t>실제로 가장 깊이까지 간 사례 (2순위 → 원문 전체 스캔)</a:t>
            </a:r>
          </a:p>
          <a:p>
            <a:r>
              <a:rPr sz="1300" b="0">
                <a:solidFill>
                  <a:srgbClr val="2E312E"/>
                </a:solidFill>
              </a:rPr>
              <a:t>"2026년 고신뢰 반도체 상용화를 위한 검증·확인 지원사업" — 소관기관 "산업통상부"(중앙부처)</a:t>
            </a:r>
          </a:p>
          <a:p>
            <a:r>
              <a:rPr sz="1300" b="0">
                <a:solidFill>
                  <a:srgbClr val="2E312E"/>
                </a:solidFill>
              </a:rPr>
              <a:t>제목 태그 없음 → 신청자격 섹션 못 찾음 → 원문 전체 스캔에서 "비수도권" 표현 발견 → 확정</a:t>
            </a:r>
          </a:p>
          <a:p>
            <a:r>
              <a:rPr sz="1300" b="1">
                <a:solidFill>
                  <a:srgbClr val="0F6E62"/>
                </a:solidFill>
              </a:rPr>
              <a:t>결론: 대부분 1순위에서 끝나지만, 예외 케이스를 위해 안전망을 겹겹이 쌓아둔 구조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