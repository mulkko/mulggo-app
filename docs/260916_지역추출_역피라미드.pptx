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312E"/>
                </a:solidFill>
              </a:defRPr>
            </a:pPr>
            <a:r>
              <a:t>공고 지역 정보 추출 — 4단계 폴백 체인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8D93"/>
                </a:solidFill>
              </a:defRPr>
            </a:pPr>
            <a:r>
              <a:t>기업마당 공고: 구조화된 지역 필드가 없어 원문 텍스트에서 신뢰도 순으로 추론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047" y="17373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53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1순위 · 제목 [지역] 태그</a:t>
            </a:r>
          </a:p>
          <a:p>
            <a:pPr algn="ctr"/>
            <a:r>
              <a:rPr sz="1150">
                <a:solidFill>
                  <a:srgbClr val="FFFFFF"/>
                </a:solidFill>
              </a:rPr>
              <a:t>커버리지 68.6% · 신뢰도 최상 (실측 20/20 일치)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7207" y="267176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8D93"/>
                </a:solidFill>
              </a:defRPr>
            </a:pPr>
            <a:r>
              <a:t>못 찾으면 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8287" y="2907792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1E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2순위 · 소관기관 판정 (중앙부처 vs 지자체)</a:t>
            </a:r>
          </a:p>
          <a:p>
            <a:pPr algn="ctr"/>
            <a:r>
              <a:rPr sz="1150">
                <a:solidFill>
                  <a:srgbClr val="FFFFFF"/>
                </a:solidFill>
              </a:rPr>
              <a:t>"중앙부처 = 전국" 바로 단정하지 않고 검증 단계로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7207" y="38421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8D93"/>
                </a:solidFill>
              </a:defRPr>
            </a:pPr>
            <a:r>
              <a:t>못 찾으면 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5527" y="4078224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3F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3순위 · 신청자격 · 지원대상 섹션 원문 탐색</a:t>
            </a:r>
          </a:p>
          <a:p>
            <a:pPr algn="ctr"/>
            <a:r>
              <a:rPr sz="1150">
                <a:solidFill>
                  <a:srgbClr val="FFFFFF"/>
                </a:solidFill>
              </a:rPr>
              <a:t>우대조건 · 사후조건 문구는 근거에서 제외(오탐 방지)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207" y="501262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8D93"/>
                </a:solidFill>
              </a:defRPr>
            </a:pPr>
            <a:r>
              <a:t>못 찾으면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767" y="5248656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4순위 · 요약문 지역 패턴 탐색</a:t>
            </a:r>
          </a:p>
          <a:p>
            <a:pPr algn="ctr"/>
            <a:r>
              <a:rPr sz="1150">
                <a:solidFill>
                  <a:srgbClr val="FFFFFF"/>
                </a:solidFill>
              </a:rPr>
              <a:t>"{지역} 소재/관내" 패턴 · 최후 폴백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6556248"/>
            <a:ext cx="10881360" cy="777240"/>
          </a:xfrm>
          <a:prstGeom prst="roundRect">
            <a:avLst>
              <a:gd name="adj" fmla="val 15000"/>
            </a:avLst>
          </a:prstGeom>
          <a:solidFill>
            <a:srgbClr val="DF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50">
                <a:solidFill>
                  <a:srgbClr val="0F6E62"/>
                </a:solidFill>
              </a:defRPr>
            </a:pPr>
            <a:r>
              <a:t>참고: K-Startup은 이미 구조화된 지역 필드(supt_regin)가 있어 이 추론 없이 정규화만 함 — 처음에 이 로직을 그대로 적용했다가 100건 전부 "전국"으로 오판정(실제 39/100건은 특정 지역)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312E"/>
                </a:solidFill>
              </a:defRPr>
            </a:pPr>
            <a:r>
              <a:t>실제로는 어디까지 갈까? — 데이터로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8D93"/>
                </a:solidFill>
              </a:defRPr>
            </a:pPr>
            <a:r>
              <a:t>실제 수집된 공고 데이터 기준 단계별 도달 현황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155448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region_status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건수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E312E"/>
                          </a:solidFill>
                        </a:rPr>
                        <a:t>1순위 · 제목 태그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E312E"/>
                          </a:solidFill>
                        </a:rPr>
                        <a:t>parsed 계열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E312E"/>
                          </a:solidFill>
                        </a:rPr>
                        <a:t>1,193건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E312E"/>
                          </a:solidFill>
                        </a:rPr>
                        <a:t>대부분 여기서 종료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E312E"/>
                          </a:solidFill>
                        </a:rPr>
                        <a:t>2순위 · 중앙부처 원문 스캔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E312E"/>
                          </a:solidFill>
                        </a:rPr>
                        <a:t>parsed_from_fulltext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E312E"/>
                          </a:solidFill>
                        </a:rPr>
                        <a:t>11건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E312E"/>
                          </a:solidFill>
                        </a:rPr>
                        <a:t>예외적 케이스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E312E"/>
                          </a:solidFill>
                        </a:rPr>
                        <a:t>3순위 · 지자체 소관 신청자격 섹션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E312E"/>
                          </a:solidFill>
                        </a:rPr>
                        <a:t>parsed_from_target_section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E312E"/>
                          </a:solidFill>
                        </a:rPr>
                        <a:t>2건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E312E"/>
                          </a:solidFill>
                        </a:rPr>
                        <a:t>극소수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04040"/>
                          </a:solidFill>
                        </a:rPr>
                        <a:t>4순위 · 요약문 패턴 (최후 폴백)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4040"/>
                          </a:solidFill>
                        </a:rPr>
                        <a:t>parsed_from_body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4040"/>
                          </a:solidFill>
                        </a:rPr>
                        <a:t>0건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4040"/>
                          </a:solidFill>
                        </a:rPr>
                        <a:t>실사용 사례 없음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38912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DFF3EF"/>
          </a:solidFill>
          <a:ln w="12700">
            <a:solidFill>
              <a:srgbClr val="0F6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ctr"/>
            <a:r>
              <a:rPr sz="1500" b="1">
                <a:solidFill>
                  <a:srgbClr val="0F6E62"/>
                </a:solidFill>
              </a:rPr>
              <a:t>실제로 가장 깊이까지 간 사례 (2순위 → 원문 전체 스캔)</a:t>
            </a:r>
          </a:p>
          <a:p>
            <a:r>
              <a:rPr sz="1300">
                <a:solidFill>
                  <a:srgbClr val="2E312E"/>
                </a:solidFill>
              </a:rPr>
              <a:t>“2026년 고신뢰 반도체 상용화를 위한 검증·확인 지원사업” — 소관기관 “산업통상부”(중앙부처)</a:t>
            </a:r>
          </a:p>
          <a:p>
            <a:r>
              <a:rPr sz="1300">
                <a:solidFill>
                  <a:srgbClr val="2E312E"/>
                </a:solidFill>
              </a:rPr>
              <a:t>제목 태그 없음 → 신청자격 섹션에서도 못 찾음 → 원문 전체 스캔에서 “비수도권” 배제 표현 발견 → 확정</a:t>
            </a:r>
          </a:p>
          <a:p>
            <a:r>
              <a:rPr sz="1300" i="1">
                <a:solidFill>
                  <a:srgbClr val="0F6E62"/>
                </a:solidFill>
              </a:rPr>
              <a:t>결론: 대부분 1순위에서 끝나지만, 예외 케이스를 위해 안전망을 겹겹이 쌓아둔 구조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